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70775"/>
  </p:normalViewPr>
  <p:slideViewPr>
    <p:cSldViewPr snapToGrid="0">
      <p:cViewPr>
        <p:scale>
          <a:sx n="77" d="100"/>
          <a:sy n="77" d="100"/>
        </p:scale>
        <p:origin x="172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AB15B-EDE1-954B-B0EB-73A10564E6F2}" type="datetimeFigureOut">
              <a:rPr lang="en-NG" smtClean="0"/>
              <a:t>26/02/2026</a:t>
            </a:fld>
            <a:endParaRPr lang="en-N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DBE906-F7D3-A145-8957-95EB55A6DF6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873538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G" dirty="0"/>
              <a:t>Every missed appointment:</a:t>
            </a:r>
          </a:p>
          <a:p>
            <a:pPr marL="171450" indent="-171450">
              <a:buFontTx/>
              <a:buChar char="-"/>
            </a:pPr>
            <a:r>
              <a:rPr lang="en-NG" dirty="0"/>
              <a:t>Wastes provider time</a:t>
            </a:r>
          </a:p>
          <a:p>
            <a:pPr marL="171450" indent="-171450">
              <a:buFontTx/>
              <a:buChar char="-"/>
            </a:pPr>
            <a:r>
              <a:rPr lang="en-NG" dirty="0"/>
              <a:t>Reduces access for other patients</a:t>
            </a:r>
          </a:p>
          <a:p>
            <a:pPr marL="171450" indent="-171450">
              <a:buFontTx/>
              <a:buChar char="-"/>
            </a:pPr>
            <a:r>
              <a:rPr lang="en-NG" dirty="0"/>
              <a:t>Creates inefficiencies in scheduling </a:t>
            </a:r>
            <a:r>
              <a:rPr lang="en-GB" dirty="0"/>
              <a:t>and</a:t>
            </a:r>
            <a:r>
              <a:rPr lang="en-NG" dirty="0"/>
              <a:t> staffing</a:t>
            </a:r>
          </a:p>
          <a:p>
            <a:endParaRPr lang="en-NG" dirty="0"/>
          </a:p>
          <a:p>
            <a:r>
              <a:rPr lang="en-GB" dirty="0"/>
              <a:t>Many clinics </a:t>
            </a:r>
            <a:r>
              <a:rPr lang="en-GB" b="1" dirty="0"/>
              <a:t>collect appointment data</a:t>
            </a:r>
            <a:r>
              <a:rPr lang="en-GB" dirty="0"/>
              <a:t>, but they:</a:t>
            </a:r>
          </a:p>
          <a:p>
            <a:r>
              <a:rPr lang="en-GB" dirty="0"/>
              <a:t>- Do not </a:t>
            </a:r>
            <a:r>
              <a:rPr lang="en-GB" dirty="0" err="1"/>
              <a:t>analyze</a:t>
            </a:r>
            <a:r>
              <a:rPr lang="en-GB" dirty="0"/>
              <a:t> it effectively</a:t>
            </a:r>
          </a:p>
          <a:p>
            <a:r>
              <a:rPr lang="en-GB" dirty="0"/>
              <a:t>- Lack simple tools to identify patterns</a:t>
            </a:r>
          </a:p>
          <a:p>
            <a:r>
              <a:rPr lang="en-GB" dirty="0"/>
              <a:t>- Rely on manual review or intuition instead of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BE906-F7D3-A145-8957-95EB55A6DF6C}" type="slidenum">
              <a:rPr lang="en-NG" smtClean="0"/>
              <a:t>2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64016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program will:</a:t>
            </a:r>
          </a:p>
          <a:p>
            <a:r>
              <a:rPr lang="en-GB" dirty="0"/>
              <a:t>- Read a CSV file containing simulated appointment records</a:t>
            </a:r>
          </a:p>
          <a:p>
            <a:r>
              <a:rPr lang="en-GB" dirty="0"/>
              <a:t>- Provide a </a:t>
            </a:r>
            <a:r>
              <a:rPr lang="en-GB" b="1" dirty="0"/>
              <a:t>menu-driven interface</a:t>
            </a:r>
            <a:r>
              <a:rPr lang="en-GB" dirty="0"/>
              <a:t> so users can choose what to </a:t>
            </a:r>
            <a:r>
              <a:rPr lang="en-GB" dirty="0" err="1"/>
              <a:t>analyze</a:t>
            </a:r>
            <a:endParaRPr lang="en-GB" dirty="0"/>
          </a:p>
          <a:p>
            <a:r>
              <a:rPr lang="en-GB" dirty="0"/>
              <a:t>- Calculate no-show rates based on:</a:t>
            </a:r>
          </a:p>
          <a:p>
            <a:pPr lvl="1"/>
            <a:r>
              <a:rPr lang="en-GB" dirty="0"/>
              <a:t>Day of the week</a:t>
            </a:r>
          </a:p>
          <a:p>
            <a:pPr lvl="1"/>
            <a:r>
              <a:rPr lang="en-GB" dirty="0"/>
              <a:t>Time of day (morning vs afternoon)</a:t>
            </a:r>
          </a:p>
          <a:p>
            <a:pPr lvl="1"/>
            <a:r>
              <a:rPr lang="en-GB" dirty="0"/>
              <a:t>Patient age group</a:t>
            </a:r>
          </a:p>
          <a:p>
            <a:endParaRPr lang="en-GB" dirty="0"/>
          </a:p>
          <a:p>
            <a:r>
              <a:rPr lang="en-GB" dirty="0"/>
              <a:t>Instead of just showing raw data, the program will:</a:t>
            </a:r>
          </a:p>
          <a:p>
            <a:r>
              <a:rPr lang="en-GB" dirty="0"/>
              <a:t>- Summarize findings in clear statistics</a:t>
            </a:r>
          </a:p>
          <a:p>
            <a:r>
              <a:rPr lang="en-GB" dirty="0"/>
              <a:t>- Display simple visualizations</a:t>
            </a:r>
          </a:p>
          <a:p>
            <a:r>
              <a:rPr lang="en-GB" dirty="0"/>
              <a:t>- Allow users to export results for review</a:t>
            </a:r>
          </a:p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BE906-F7D3-A145-8957-95EB55A6DF6C}" type="slidenum">
              <a:rPr lang="en-NG" smtClean="0"/>
              <a:t>3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657742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From a technical perspective:</a:t>
            </a:r>
          </a:p>
          <a:p>
            <a:r>
              <a:rPr lang="en-GB" dirty="0"/>
              <a:t>The program demonstrates strong Python fundamentals:</a:t>
            </a:r>
          </a:p>
          <a:p>
            <a:pPr lvl="1"/>
            <a:r>
              <a:rPr lang="en-GB" dirty="0"/>
              <a:t>File input/output</a:t>
            </a:r>
          </a:p>
          <a:p>
            <a:pPr lvl="1"/>
            <a:r>
              <a:rPr lang="en-GB" dirty="0"/>
              <a:t>Functions and modular design</a:t>
            </a:r>
          </a:p>
          <a:p>
            <a:pPr lvl="1"/>
            <a:r>
              <a:rPr lang="en-GB" dirty="0"/>
              <a:t>Conditional logic and loops</a:t>
            </a:r>
          </a:p>
          <a:p>
            <a:pPr lvl="1"/>
            <a:r>
              <a:rPr lang="en-GB" dirty="0"/>
              <a:t>Basic data analysis and visualization</a:t>
            </a:r>
          </a:p>
          <a:p>
            <a:r>
              <a:rPr lang="en-GB" dirty="0"/>
              <a:t>It is interactive and user-driven, not just a static report</a:t>
            </a:r>
          </a:p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BE906-F7D3-A145-8957-95EB55A6DF6C}" type="slidenum">
              <a:rPr lang="en-NG" smtClean="0"/>
              <a:t>4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8680932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diagram shows the overall structure of the program. </a:t>
            </a:r>
          </a:p>
          <a:p>
            <a:endParaRPr lang="en-GB" dirty="0"/>
          </a:p>
          <a:p>
            <a:r>
              <a:rPr lang="en-GB" dirty="0"/>
              <a:t>It starts by loading appointment data from a CSV file, then presents a menu that allows the user to choose different types of analysis. </a:t>
            </a:r>
          </a:p>
          <a:p>
            <a:endParaRPr lang="en-GB" dirty="0"/>
          </a:p>
          <a:p>
            <a:r>
              <a:rPr lang="en-GB" dirty="0"/>
              <a:t>Each option is handled by a separate function, which keeps the program organized and easy to maintain. </a:t>
            </a:r>
          </a:p>
          <a:p>
            <a:endParaRPr lang="en-GB" dirty="0"/>
          </a:p>
          <a:p>
            <a:r>
              <a:rPr lang="en-GB" dirty="0"/>
              <a:t>After results are displayed or exported, the user can return to the menu or exit</a:t>
            </a:r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BE906-F7D3-A145-8957-95EB55A6DF6C}" type="slidenum">
              <a:rPr lang="en-NG" smtClean="0"/>
              <a:t>5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444035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1D227D51-204B-ED48-AF9A-0BE9633FE04A}"/>
              </a:ext>
            </a:extLst>
          </p:cNvPr>
          <p:cNvSpPr/>
          <p:nvPr/>
        </p:nvSpPr>
        <p:spPr>
          <a:xfrm>
            <a:off x="5224243" y="1096772"/>
            <a:ext cx="650318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57A23F45-CDAE-8A40-8DE7-92A0BBC119B7}"/>
              </a:ext>
            </a:extLst>
          </p:cNvPr>
          <p:cNvSpPr/>
          <p:nvPr/>
        </p:nvSpPr>
        <p:spPr>
          <a:xfrm>
            <a:off x="501681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8546383-CCC4-544B-B0D8-DE78DE39BB78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5D1728-714F-2942-A0D1-82FF9419B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106" y="1625608"/>
            <a:ext cx="8035342" cy="2722164"/>
          </a:xfrm>
        </p:spPr>
        <p:txBody>
          <a:bodyPr anchor="b"/>
          <a:lstStyle>
            <a:lvl1pPr algn="l">
              <a:defRPr sz="8000" spc="-1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072D4-1496-3347-BBF8-5879DF263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7106" y="4466845"/>
            <a:ext cx="8035342" cy="88290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FC724-B499-364B-AEB5-B6517F6AD5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7105" y="5708747"/>
            <a:ext cx="3882843" cy="365125"/>
          </a:xfrm>
        </p:spPr>
        <p:txBody>
          <a:bodyPr/>
          <a:lstStyle>
            <a:lvl1pPr>
              <a:defRPr sz="1400"/>
            </a:lvl1pPr>
          </a:lstStyle>
          <a:p>
            <a:fld id="{73C3BD54-29B9-3D42-B178-776ED395AA85}" type="datetimeFigureOut">
              <a:rPr lang="en-US" smtClean="0"/>
              <a:pPr/>
              <a:t>2/26/26</a:t>
            </a:fld>
            <a:endParaRPr lang="en-US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3889C-A4E9-B24E-818F-46A1124C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0F50F-250E-6D45-AEBC-2573FED0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396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9F291BE0-7A7E-D04F-974F-9F4577FB2F46}"/>
              </a:ext>
            </a:extLst>
          </p:cNvPr>
          <p:cNvSpPr/>
          <p:nvPr/>
        </p:nvSpPr>
        <p:spPr>
          <a:xfrm>
            <a:off x="6163735" y="1096772"/>
            <a:ext cx="557106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BD33FF1F-6094-0B4A-A3E4-6B0D9283DB44}"/>
              </a:ext>
            </a:extLst>
          </p:cNvPr>
          <p:cNvSpPr/>
          <p:nvPr/>
        </p:nvSpPr>
        <p:spPr>
          <a:xfrm>
            <a:off x="11529484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8A6D9C-C7A5-414B-8CB7-E31470D7D280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1D850E-6310-C04D-8CAC-B7FA9F33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B7FB3-5DFC-6547-9567-C0ABE874C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7D2DB-A7B1-204E-8416-E938952BC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24BA1-E2D0-1E4B-9DB3-664FE2733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E64B2-36E4-5A4E-A78A-A629829A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37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C97F6C6D-13AE-FD40-841C-4AB96460C390}"/>
              </a:ext>
            </a:extLst>
          </p:cNvPr>
          <p:cNvSpPr/>
          <p:nvPr/>
        </p:nvSpPr>
        <p:spPr>
          <a:xfrm>
            <a:off x="4291015" y="1096772"/>
            <a:ext cx="7436404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24E27617-2112-2342-9FF1-39F2A241CCCC}"/>
              </a:ext>
            </a:extLst>
          </p:cNvPr>
          <p:cNvSpPr/>
          <p:nvPr/>
        </p:nvSpPr>
        <p:spPr>
          <a:xfrm>
            <a:off x="408637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33CE582-7AFE-D048-B5BC-212A12A28F25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EAEF4-E84F-CF40-B27B-01E1D2AFC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1881951"/>
            <a:ext cx="7335836" cy="1987707"/>
          </a:xfrm>
        </p:spPr>
        <p:txBody>
          <a:bodyPr anchor="b"/>
          <a:lstStyle>
            <a:lvl1pPr>
              <a:defRPr sz="6000" spc="-1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7B7E1-CC48-2441-975D-F1A5412B8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49" y="3869661"/>
            <a:ext cx="7335836" cy="94846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26218-1FCF-7A4D-B138-D1B1DE91A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84204-038C-FD4B-8E1C-0A9967BF2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59AB9-E1C6-C841-B423-FD2BB13C3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537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B057A-C120-5E4E-BB74-223EB6D00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EB7BE-6258-C84C-8242-9865D136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5111" y="2691637"/>
            <a:ext cx="4946643" cy="3189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D23CD-80DB-5740-AE68-76414CA31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76903" y="2691637"/>
            <a:ext cx="4946639" cy="3189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E0921-9102-1440-B315-778888723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7802F-1937-2F43-8FF4-846135D6F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609C72-E794-4F4F-8E09-D4883EED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FEFA3E2-0F30-664C-AAE4-DE6526B5C716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C3D7AFF-BC7E-BA41-9C64-B5F9619C0EA1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671D2311-E9B8-F041-A7B8-D5696903F22A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195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CA91-F119-0244-888A-95539A84D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10" y="1204721"/>
            <a:ext cx="8266175" cy="14447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A3EAC-4422-D548-8D7F-E9944566F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11" y="2691638"/>
            <a:ext cx="4946644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40CA2-88A9-CC42-A375-8B87E47C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111" y="3515550"/>
            <a:ext cx="4946644" cy="236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5F960C-714E-2E4A-8141-A88F38274E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76866" y="2691162"/>
            <a:ext cx="4946644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97BC24-C907-EC4B-872D-17429A657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76866" y="3515074"/>
            <a:ext cx="4946644" cy="236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E2A045-4283-3C47-B125-68CF3B19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BC25BC-2C98-574D-BCCD-E36CAB07F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5C95A-7789-E042-8471-D442D9BB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DF1BA5B-EDD8-B648-8A3E-E2B3570B1EA0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7476360-629C-DE48-85B7-F4BE6CC457DB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C5F6C588-FC1B-3147-AFA1-CD7D76C5AEAC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61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15401-5318-7045-8AE3-B1A99F2D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2F55F-EB76-AE49-B554-12B65B636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CB6E6E-D81E-C44A-AC54-CBE0134C1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025B9-9F46-3049-9977-0119B96D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5760068-EADA-2B4B-9819-CF981184FAEB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DA7622-137E-184A-A93C-8DBB10318AE6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54FB0990-6F8D-B048-8309-19B0D1A41033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748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AF81DD-2B1F-3444-8023-DD52318F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927EE3-DAA3-D948-B8FD-48417540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532D4-FFBF-6C47-A6C9-D55196D91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8D5541-7726-BA46-8BFA-BF6AA8D42BD7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97F434CF-7503-CE4F-8426-C312C6315AD0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EDBFB2F-FE34-E349-9484-C275FBE31614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235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DCFD-BEE6-AC49-BABD-D8B89C3B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3800"/>
            <a:ext cx="4114800" cy="107721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DE035-8260-4443-B1D9-A9C8D5840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1813" y="1508252"/>
            <a:ext cx="5606518" cy="40458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C1AA53-7507-D04B-9B8E-6A4F7122E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49" y="2368295"/>
            <a:ext cx="4114800" cy="31858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6E11F-3003-0745-ACAB-FAA4E676E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C11A6-59AC-FE45-8A1C-9DDC00582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6F51E-1A94-034C-BBEE-C26A3AF0E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0B7D330-76C0-224C-9C3C-27C4D2B0DDB4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5464D55-5C51-844B-A38A-8143590FB934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FD988250-C554-DE44-B887-57D0B2AA8E37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919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86C7C-36AD-9A4E-8524-8F44E8839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3800"/>
            <a:ext cx="4114800" cy="107721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015248-4C80-3348-A8A9-6C9F5D32FC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31151" y="1096772"/>
            <a:ext cx="6096270" cy="576122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B3083-CA16-C54A-B130-7BEE6DF9D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49" y="2370666"/>
            <a:ext cx="4114800" cy="318346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C6EB5-D7D1-E247-B9D7-D319E5AAB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BF6CC-F5C4-9847-BADB-8B7441C8F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63FE4-B2F5-7741-B517-533F1C98C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B80A771-7D8E-0F4A-93A3-B977667D338E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C9320FA-0E3A-2749-9085-DF30FA26F4BD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5A3DF5D0-8A2C-A049-9132-EE1EF7D014D4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95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9F6C0E12-251D-EA44-BF81-4ABDFBB94321}"/>
              </a:ext>
            </a:extLst>
          </p:cNvPr>
          <p:cNvSpPr/>
          <p:nvPr/>
        </p:nvSpPr>
        <p:spPr>
          <a:xfrm>
            <a:off x="7087169" y="1096772"/>
            <a:ext cx="465222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C5FF4-095A-114E-87B6-73C7ADFF9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1E6EC9-9650-2042-8581-5B4082F941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A0800-B373-3B40-B187-30AFE44CD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A4C1C-C790-B449-8C06-78E8303F9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3E620-F86B-F447-AB06-DDAB39192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0487CB5-43E0-974C-9DDC-252A8A37107F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E9CB83EF-4143-5A45-9B3A-9E70DD50253B}"/>
              </a:ext>
            </a:extLst>
          </p:cNvPr>
          <p:cNvSpPr/>
          <p:nvPr/>
        </p:nvSpPr>
        <p:spPr>
          <a:xfrm>
            <a:off x="11415183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14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9DF801-FF8E-6247-9065-D9304CD609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5667" y="1204722"/>
            <a:ext cx="1853360" cy="467664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0E2615-7E4D-AB47-ACE6-236D716D7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73667" y="1204722"/>
            <a:ext cx="8274047" cy="46969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F0223-5AC9-374E-BD0C-344F67E2A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EDD42-54A1-E648-8829-140EC4C57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DF8F-8DBC-8A47-8000-5BA35DF9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2CE2A98-5154-A544-BE2A-FDC0811C19A0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C4EC832-8181-5643-8A62-117E43F0E498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24AF3281-BC22-374D-A461-8B3181F600AA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952BFD-D607-6845-9C7B-1C8D3B4EE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8267296" cy="1446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B52FF-3B04-8245-BF0B-89C9E2933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691638"/>
            <a:ext cx="8267296" cy="318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99BFE-CBDD-C344-A21E-44A52F11B6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5149" y="594969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lang="en-US" sz="1050" smtClean="0">
                <a:latin typeface="+mn-lt"/>
              </a:defRPr>
            </a:lvl1pPr>
          </a:lstStyle>
          <a:p>
            <a:fld id="{73C3BD54-29B9-3D42-B178-776ED395AA85}" type="datetimeFigureOut">
              <a:rPr lang="en-US" smtClean="0"/>
              <a:pPr/>
              <a:t>2/26/26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371C0-3DCE-0743-946F-C7540DD789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543179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lang="en-US" sz="105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32ADB-4517-194F-8B4B-A9D26B3C02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3024" y="511175"/>
            <a:ext cx="914400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86BB3423-611C-6944-BA94-F2572F3624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831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System Font Regular"/>
        <a:buChar char="–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CA2C65D-0168-1245-86C8-62A8A6F7B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87F931-7F1A-5220-8EC7-BB5695349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53945" y="1625608"/>
            <a:ext cx="5904705" cy="216499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NG" sz="4400" b="1" dirty="0"/>
              <a:t>Healthcare Appointment No-Show Analysis Program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8CA7B3-78B9-3FF6-A0CC-F20F07822B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3945" y="4372854"/>
            <a:ext cx="5064388" cy="882904"/>
          </a:xfrm>
        </p:spPr>
        <p:txBody>
          <a:bodyPr>
            <a:normAutofit fontScale="92500" lnSpcReduction="10000"/>
          </a:bodyPr>
          <a:lstStyle/>
          <a:p>
            <a:r>
              <a:rPr lang="en-NG" dirty="0"/>
              <a:t>Pitch to the Board of Directors</a:t>
            </a:r>
          </a:p>
          <a:p>
            <a:r>
              <a:rPr lang="en-NG" b="1" dirty="0"/>
              <a:t>Bidemi Adeoye</a:t>
            </a:r>
          </a:p>
        </p:txBody>
      </p:sp>
      <p:pic>
        <p:nvPicPr>
          <p:cNvPr id="15" name="Picture 14" descr="A group of pink and white circles&#10;&#10;AI-generated content may be incorrect.">
            <a:extLst>
              <a:ext uri="{FF2B5EF4-FFF2-40B4-BE49-F238E27FC236}">
                <a16:creationId xmlns:a16="http://schemas.microsoft.com/office/drawing/2014/main" id="{50D8EA1B-DB74-E61D-BA56-3981CA9685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68" r="20462" b="-1"/>
          <a:stretch>
            <a:fillRect/>
          </a:stretch>
        </p:blipFill>
        <p:spPr>
          <a:xfrm>
            <a:off x="20" y="10"/>
            <a:ext cx="6038037" cy="6857990"/>
          </a:xfrm>
          <a:prstGeom prst="rect">
            <a:avLst/>
          </a:prstGeom>
        </p:spPr>
      </p:pic>
      <p:sp>
        <p:nvSpPr>
          <p:cNvPr id="16" name="Cross 15">
            <a:extLst>
              <a:ext uri="{FF2B5EF4-FFF2-40B4-BE49-F238E27FC236}">
                <a16:creationId xmlns:a16="http://schemas.microsoft.com/office/drawing/2014/main" id="{12E8ED90-6D42-AE40-963A-3924EE207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30625" y="562356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5E9273-3717-C94C-9BFF-75E87E47C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0D1B854-6216-A90B-0998-C368CB2C7DFE}"/>
              </a:ext>
            </a:extLst>
          </p:cNvPr>
          <p:cNvSpPr txBox="1">
            <a:spLocks/>
          </p:cNvSpPr>
          <p:nvPr/>
        </p:nvSpPr>
        <p:spPr>
          <a:xfrm>
            <a:off x="7402931" y="5961347"/>
            <a:ext cx="4655719" cy="473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System Font Regular"/>
              <a:buNone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NG" dirty="0"/>
              <a:t>02/27/2026</a:t>
            </a:r>
          </a:p>
        </p:txBody>
      </p:sp>
    </p:spTree>
    <p:extLst>
      <p:ext uri="{BB962C8B-B14F-4D97-AF65-F5344CB8AC3E}">
        <p14:creationId xmlns:p14="http://schemas.microsoft.com/office/powerpoint/2010/main" val="253268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4776A-9DDB-D8CD-B424-521009B86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G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8C1D2-F276-C105-0413-9E6E4A56E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584" y="4569079"/>
            <a:ext cx="5309870" cy="157407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NG" dirty="0"/>
              <a:t>Missed healthcare appointments, also known as no-shows, are a persistent and costly problem for clinics and hospitals</a:t>
            </a:r>
          </a:p>
        </p:txBody>
      </p:sp>
      <p:pic>
        <p:nvPicPr>
          <p:cNvPr id="8" name="Graphic 7" descr="Daily calendar with solid fill">
            <a:extLst>
              <a:ext uri="{FF2B5EF4-FFF2-40B4-BE49-F238E27FC236}">
                <a16:creationId xmlns:a16="http://schemas.microsoft.com/office/drawing/2014/main" id="{80665CA4-46D9-E253-DFAD-D62EEAA0E8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30829" y="2451360"/>
            <a:ext cx="1726275" cy="1726275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C413FD-B343-1A32-22FC-67933513745C}"/>
              </a:ext>
            </a:extLst>
          </p:cNvPr>
          <p:cNvSpPr txBox="1">
            <a:spLocks/>
          </p:cNvSpPr>
          <p:nvPr/>
        </p:nvSpPr>
        <p:spPr>
          <a:xfrm>
            <a:off x="6303917" y="4569079"/>
            <a:ext cx="5309870" cy="157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System Font Regular"/>
              <a:buChar char="–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dirty="0"/>
              <a:t>As a result, decision-makers often know </a:t>
            </a:r>
            <a:r>
              <a:rPr lang="en-GB" b="1" dirty="0"/>
              <a:t>that</a:t>
            </a:r>
            <a:r>
              <a:rPr lang="en-GB" dirty="0"/>
              <a:t> no-shows are happening, but not </a:t>
            </a:r>
            <a:r>
              <a:rPr lang="en-GB" b="1" dirty="0"/>
              <a:t>why</a:t>
            </a:r>
            <a:r>
              <a:rPr lang="en-GB" dirty="0"/>
              <a:t>, </a:t>
            </a:r>
            <a:r>
              <a:rPr lang="en-GB" b="1" dirty="0"/>
              <a:t>when</a:t>
            </a:r>
            <a:r>
              <a:rPr lang="en-GB" dirty="0"/>
              <a:t>, or </a:t>
            </a:r>
            <a:r>
              <a:rPr lang="en-GB" b="1" dirty="0"/>
              <a:t>where</a:t>
            </a:r>
            <a:r>
              <a:rPr lang="en-GB" dirty="0"/>
              <a:t> they are most likely to occur</a:t>
            </a:r>
            <a:endParaRPr lang="en-NG" dirty="0"/>
          </a:p>
        </p:txBody>
      </p:sp>
      <p:pic>
        <p:nvPicPr>
          <p:cNvPr id="10" name="Graphic 9" descr="Fork In Road with solid fill">
            <a:extLst>
              <a:ext uri="{FF2B5EF4-FFF2-40B4-BE49-F238E27FC236}">
                <a16:creationId xmlns:a16="http://schemas.microsoft.com/office/drawing/2014/main" id="{10075F49-B10D-7C08-5B2B-5F99BE9DD8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33586" y="2651271"/>
            <a:ext cx="1327585" cy="142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329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538CF-7A24-61E2-2862-2F542D5E0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G" dirty="0"/>
              <a:t>The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DCB7C-1A82-FAA0-40F7-7CB222046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444156"/>
            <a:ext cx="5417242" cy="1446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Python-based program that </a:t>
            </a:r>
            <a:r>
              <a:rPr lang="en-GB" dirty="0" err="1"/>
              <a:t>analyzes</a:t>
            </a:r>
            <a:r>
              <a:rPr lang="en-GB" dirty="0"/>
              <a:t> appointment data to uncover patterns in no-show </a:t>
            </a:r>
            <a:r>
              <a:rPr lang="en-GB" dirty="0" err="1"/>
              <a:t>behavior</a:t>
            </a:r>
            <a:endParaRPr lang="en-NG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AE97EC7-45FE-2E4B-253B-3CE6629F8551}"/>
              </a:ext>
            </a:extLst>
          </p:cNvPr>
          <p:cNvSpPr txBox="1">
            <a:spLocks/>
          </p:cNvSpPr>
          <p:nvPr/>
        </p:nvSpPr>
        <p:spPr>
          <a:xfrm>
            <a:off x="434917" y="4613346"/>
            <a:ext cx="5417243" cy="1837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System Font Regular"/>
              <a:buChar char="–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The goal is not to predict </a:t>
            </a:r>
            <a:r>
              <a:rPr lang="en-GB" dirty="0" err="1"/>
              <a:t>behavior</a:t>
            </a:r>
            <a:r>
              <a:rPr lang="en-GB" dirty="0"/>
              <a:t>, but to </a:t>
            </a:r>
            <a:r>
              <a:rPr lang="en-GB" b="1" dirty="0"/>
              <a:t>turn existing data into actionable insights</a:t>
            </a:r>
            <a:r>
              <a:rPr lang="en-GB" dirty="0"/>
              <a:t> using fundamental Python programming techniques</a:t>
            </a:r>
          </a:p>
        </p:txBody>
      </p:sp>
      <p:pic>
        <p:nvPicPr>
          <p:cNvPr id="6" name="Graphic 5" descr="Bar chart outline">
            <a:extLst>
              <a:ext uri="{FF2B5EF4-FFF2-40B4-BE49-F238E27FC236}">
                <a16:creationId xmlns:a16="http://schemas.microsoft.com/office/drawing/2014/main" id="{FF7E3BE4-0831-FABC-1E80-732990AF1D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4368" y="4765203"/>
            <a:ext cx="1776152" cy="1776152"/>
          </a:xfrm>
          <a:prstGeom prst="rect">
            <a:avLst/>
          </a:prstGeom>
        </p:spPr>
      </p:pic>
      <p:pic>
        <p:nvPicPr>
          <p:cNvPr id="8" name="Graphic 7" descr="Database with solid fill">
            <a:extLst>
              <a:ext uri="{FF2B5EF4-FFF2-40B4-BE49-F238E27FC236}">
                <a16:creationId xmlns:a16="http://schemas.microsoft.com/office/drawing/2014/main" id="{2F33EB17-8876-5253-1983-C406D06795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05242" y="2309939"/>
            <a:ext cx="1654405" cy="165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148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9E65F-53BC-A158-99C5-1DD6D0035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G" dirty="0"/>
              <a:t>Why Fund This Project?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9FED2-218C-965A-EF87-EA4AA81BA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647" y="4350421"/>
            <a:ext cx="5404577" cy="206393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NG" b="1" dirty="0"/>
              <a:t>Business perspective</a:t>
            </a:r>
          </a:p>
          <a:p>
            <a:pPr lvl="1"/>
            <a:r>
              <a:rPr lang="en-NG" sz="2400" dirty="0"/>
              <a:t>Reducing no-shows improves clinic efficiency</a:t>
            </a:r>
          </a:p>
          <a:p>
            <a:pPr lvl="1"/>
            <a:r>
              <a:rPr lang="en-NG" sz="2400" dirty="0"/>
              <a:t>Even </a:t>
            </a:r>
            <a:r>
              <a:rPr lang="en-GB" sz="2400" dirty="0"/>
              <a:t>small</a:t>
            </a:r>
            <a:r>
              <a:rPr lang="en-NG" sz="2400" dirty="0"/>
              <a:t> improvements can </a:t>
            </a:r>
            <a:r>
              <a:rPr lang="en-GB" sz="2400" dirty="0"/>
              <a:t>save</a:t>
            </a:r>
            <a:r>
              <a:rPr lang="en-NG" sz="2400" dirty="0"/>
              <a:t> time and money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0D901DE-F3E3-6288-74B3-992CD8C4FA16}"/>
              </a:ext>
            </a:extLst>
          </p:cNvPr>
          <p:cNvSpPr txBox="1">
            <a:spLocks/>
          </p:cNvSpPr>
          <p:nvPr/>
        </p:nvSpPr>
        <p:spPr>
          <a:xfrm>
            <a:off x="6130156" y="4350421"/>
            <a:ext cx="5404577" cy="23513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System Font Regular"/>
              <a:buChar char="–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G" b="1" dirty="0"/>
              <a:t>Scalability perspective</a:t>
            </a:r>
          </a:p>
          <a:p>
            <a:pPr marL="0" indent="0">
              <a:buNone/>
            </a:pPr>
            <a:r>
              <a:rPr lang="en-GB" sz="2400" dirty="0"/>
              <a:t>The program</a:t>
            </a:r>
            <a:r>
              <a:rPr lang="en-NG" sz="2400" dirty="0"/>
              <a:t> could be expanded to:</a:t>
            </a:r>
          </a:p>
          <a:p>
            <a:pPr>
              <a:buFontTx/>
              <a:buChar char="-"/>
            </a:pPr>
            <a:r>
              <a:rPr lang="en-NG" sz="2400" dirty="0"/>
              <a:t>Include reminders</a:t>
            </a:r>
          </a:p>
          <a:p>
            <a:pPr>
              <a:buFontTx/>
              <a:buChar char="-"/>
            </a:pPr>
            <a:r>
              <a:rPr lang="en-NG" sz="2400" dirty="0"/>
              <a:t>Flag high-risk appointment slots</a:t>
            </a:r>
          </a:p>
          <a:p>
            <a:pPr>
              <a:buFontTx/>
              <a:buChar char="-"/>
            </a:pPr>
            <a:r>
              <a:rPr lang="en-NG" sz="2400" dirty="0"/>
              <a:t>Integrate real-world clinic data</a:t>
            </a:r>
          </a:p>
        </p:txBody>
      </p:sp>
      <p:pic>
        <p:nvPicPr>
          <p:cNvPr id="7" name="Graphic 6" descr="Dollar with solid fill">
            <a:extLst>
              <a:ext uri="{FF2B5EF4-FFF2-40B4-BE49-F238E27FC236}">
                <a16:creationId xmlns:a16="http://schemas.microsoft.com/office/drawing/2014/main" id="{6BF16C5D-A91D-26D1-6426-D373CBD71F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35917" y="2565866"/>
            <a:ext cx="1427018" cy="1427018"/>
          </a:xfrm>
          <a:prstGeom prst="rect">
            <a:avLst/>
          </a:prstGeom>
        </p:spPr>
      </p:pic>
      <p:pic>
        <p:nvPicPr>
          <p:cNvPr id="9" name="Graphic 8" descr="Exponential Graph outline">
            <a:extLst>
              <a:ext uri="{FF2B5EF4-FFF2-40B4-BE49-F238E27FC236}">
                <a16:creationId xmlns:a16="http://schemas.microsoft.com/office/drawing/2014/main" id="{A6FFDBFB-5C13-3FD5-C54F-E4D4E8E860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18935" y="2565866"/>
            <a:ext cx="1427018" cy="142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494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1D227D51-204B-ED48-AF9A-0BE9633FE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4243" y="1096772"/>
            <a:ext cx="650318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ross 35">
            <a:extLst>
              <a:ext uri="{FF2B5EF4-FFF2-40B4-BE49-F238E27FC236}">
                <a16:creationId xmlns:a16="http://schemas.microsoft.com/office/drawing/2014/main" id="{57A23F45-CDAE-8A40-8DE7-92A0BBC11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681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8546383-CCC4-544B-B0D8-DE78DE39B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6CA2C65D-0168-1245-86C8-62A8A6F7B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DC3E9-CC6D-CC8B-2F0E-D1CE1EF3D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69" y="2074234"/>
            <a:ext cx="2976767" cy="190315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6000" kern="1200" spc="-1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Program Blueprint</a:t>
            </a:r>
          </a:p>
        </p:txBody>
      </p:sp>
      <p:sp>
        <p:nvSpPr>
          <p:cNvPr id="39" name="Cross 38">
            <a:extLst>
              <a:ext uri="{FF2B5EF4-FFF2-40B4-BE49-F238E27FC236}">
                <a16:creationId xmlns:a16="http://schemas.microsoft.com/office/drawing/2014/main" id="{56EC6756-249A-354D-B2C0-DA82BEEEC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8518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9B14128-2D03-F14B-8681-9410A28F3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3666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5083237-E450-A2A2-F775-6E406EC49AD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2124" y="0"/>
            <a:ext cx="59020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297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429598-81C1-BA25-4A6E-5F6098A16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B68DB74-9FC7-6C58-72FE-5C1457C768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27294D-E375-5FA6-A613-7CF054B8A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53945" y="1625608"/>
            <a:ext cx="5904705" cy="2637782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NG" sz="4400" b="1" dirty="0"/>
              <a:t>Thanks for listening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C86D6B-C79B-470E-4A96-C3DB8B0F09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3945" y="4655481"/>
            <a:ext cx="4655719" cy="882904"/>
          </a:xfrm>
        </p:spPr>
        <p:txBody>
          <a:bodyPr>
            <a:normAutofit fontScale="92500" lnSpcReduction="10000"/>
          </a:bodyPr>
          <a:lstStyle/>
          <a:p>
            <a:r>
              <a:rPr lang="en-NG" b="1" dirty="0"/>
              <a:t>Bidemi Adeoye</a:t>
            </a:r>
          </a:p>
          <a:p>
            <a:r>
              <a:rPr lang="en-NG" dirty="0"/>
              <a:t>oadeoye@students.kennesaw.edu</a:t>
            </a:r>
          </a:p>
        </p:txBody>
      </p:sp>
      <p:pic>
        <p:nvPicPr>
          <p:cNvPr id="15" name="Picture 14" descr="A group of pink and white circles&#10;&#10;AI-generated content may be incorrect.">
            <a:extLst>
              <a:ext uri="{FF2B5EF4-FFF2-40B4-BE49-F238E27FC236}">
                <a16:creationId xmlns:a16="http://schemas.microsoft.com/office/drawing/2014/main" id="{B7E11D2E-ECC2-C922-19B8-4BB50BE44E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68" r="20462" b="-1"/>
          <a:stretch>
            <a:fillRect/>
          </a:stretch>
        </p:blipFill>
        <p:spPr>
          <a:xfrm>
            <a:off x="20" y="10"/>
            <a:ext cx="6038037" cy="6857990"/>
          </a:xfrm>
          <a:prstGeom prst="rect">
            <a:avLst/>
          </a:prstGeom>
        </p:spPr>
      </p:pic>
      <p:sp>
        <p:nvSpPr>
          <p:cNvPr id="16" name="Cross 15">
            <a:extLst>
              <a:ext uri="{FF2B5EF4-FFF2-40B4-BE49-F238E27FC236}">
                <a16:creationId xmlns:a16="http://schemas.microsoft.com/office/drawing/2014/main" id="{219DEFB4-BD5F-8B0A-DAB8-65C736FD8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30625" y="562356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24C7BF-6590-AC83-395A-D753B5FA95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23981FF-8CA2-BBDB-39C0-1E4245F3993F}"/>
              </a:ext>
            </a:extLst>
          </p:cNvPr>
          <p:cNvSpPr txBox="1">
            <a:spLocks/>
          </p:cNvSpPr>
          <p:nvPr/>
        </p:nvSpPr>
        <p:spPr>
          <a:xfrm>
            <a:off x="7402931" y="5961347"/>
            <a:ext cx="4655719" cy="473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System Font Regular"/>
              <a:buNone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NG" dirty="0"/>
              <a:t>02/27/2026</a:t>
            </a:r>
          </a:p>
        </p:txBody>
      </p:sp>
    </p:spTree>
    <p:extLst>
      <p:ext uri="{BB962C8B-B14F-4D97-AF65-F5344CB8AC3E}">
        <p14:creationId xmlns:p14="http://schemas.microsoft.com/office/powerpoint/2010/main" val="3334046266"/>
      </p:ext>
    </p:extLst>
  </p:cSld>
  <p:clrMapOvr>
    <a:masterClrMapping/>
  </p:clrMapOvr>
</p:sld>
</file>

<file path=ppt/theme/theme1.xml><?xml version="1.0" encoding="utf-8"?>
<a:theme xmlns:a="http://schemas.openxmlformats.org/drawingml/2006/main" name="MadridVTI">
  <a:themeElements>
    <a:clrScheme name="Madrid R3">
      <a:dk1>
        <a:srgbClr val="000000"/>
      </a:dk1>
      <a:lt1>
        <a:srgbClr val="FFFFFF"/>
      </a:lt1>
      <a:dk2>
        <a:srgbClr val="3A3C45"/>
      </a:dk2>
      <a:lt2>
        <a:srgbClr val="E9EFF1"/>
      </a:lt2>
      <a:accent1>
        <a:srgbClr val="E24400"/>
      </a:accent1>
      <a:accent2>
        <a:srgbClr val="F38E00"/>
      </a:accent2>
      <a:accent3>
        <a:srgbClr val="89B336"/>
      </a:accent3>
      <a:accent4>
        <a:srgbClr val="30B9B9"/>
      </a:accent4>
      <a:accent5>
        <a:srgbClr val="748CF4"/>
      </a:accent5>
      <a:accent6>
        <a:srgbClr val="A673F4"/>
      </a:accent6>
      <a:hlink>
        <a:srgbClr val="008EE6"/>
      </a:hlink>
      <a:folHlink>
        <a:srgbClr val="C1A187"/>
      </a:folHlink>
    </a:clrScheme>
    <a:fontScheme name="Madrid">
      <a:majorFont>
        <a:latin typeface="Seaford Display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ridVTI" id="{5F675924-ADDD-6B4C-A2D4-69150D1F0C16}" vid="{BEA84270-19BD-7342-8ABF-EFF1668AF1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1193</TotalTime>
  <Words>391</Words>
  <Application>Microsoft Macintosh PowerPoint</Application>
  <PresentationFormat>Widescreen</PresentationFormat>
  <Paragraphs>63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Seaford Display</vt:lpstr>
      <vt:lpstr>System Font Regular</vt:lpstr>
      <vt:lpstr>Tenorite</vt:lpstr>
      <vt:lpstr>MadridVTI</vt:lpstr>
      <vt:lpstr>Healthcare Appointment No-Show Analysis Program</vt:lpstr>
      <vt:lpstr>The Problem</vt:lpstr>
      <vt:lpstr>The Solution</vt:lpstr>
      <vt:lpstr>Why Fund This Project?</vt:lpstr>
      <vt:lpstr>Program Blueprint</vt:lpstr>
      <vt:lpstr>Thanks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bidemi adeoye</dc:creator>
  <cp:lastModifiedBy>bidemi adeoye</cp:lastModifiedBy>
  <cp:revision>2</cp:revision>
  <dcterms:created xsi:type="dcterms:W3CDTF">2026-02-27T03:51:20Z</dcterms:created>
  <dcterms:modified xsi:type="dcterms:W3CDTF">2026-02-27T23:44:49Z</dcterms:modified>
</cp:coreProperties>
</file>