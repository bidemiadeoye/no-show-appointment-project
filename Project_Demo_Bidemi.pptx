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2" r:id="rId6"/>
    <p:sldId id="264" r:id="rId7"/>
    <p:sldId id="265" r:id="rId8"/>
    <p:sldId id="263" r:id="rId9"/>
    <p:sldId id="266" r:id="rId10"/>
    <p:sldId id="261" r:id="rId11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70787"/>
  </p:normalViewPr>
  <p:slideViewPr>
    <p:cSldViewPr snapToGrid="0">
      <p:cViewPr>
        <p:scale>
          <a:sx n="74" d="100"/>
          <a:sy n="74" d="100"/>
        </p:scale>
        <p:origin x="171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AB15B-EDE1-954B-B0EB-73A10564E6F2}" type="datetimeFigureOut">
              <a:rPr lang="en-NG" smtClean="0"/>
              <a:t>30/04/2026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BE906-F7D3-A145-8957-95EB55A6DF6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73538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“Healthcare organizations struggle with missed appointments, which impact efficiency and patient access.”</a:t>
            </a:r>
          </a:p>
          <a:p>
            <a:endParaRPr lang="en-GB" dirty="0"/>
          </a:p>
          <a:p>
            <a:r>
              <a:rPr lang="en-GB" dirty="0"/>
              <a:t>- Missed appointments (no-shows) are a major issue in healthcare </a:t>
            </a:r>
          </a:p>
          <a:p>
            <a:r>
              <a:rPr lang="en-GB" dirty="0"/>
              <a:t>- Lead to wasted provider time and reduced efficiency</a:t>
            </a:r>
          </a:p>
          <a:p>
            <a:r>
              <a:rPr lang="en-GB" dirty="0"/>
              <a:t>- Clinics collect data, but often don’t </a:t>
            </a:r>
            <a:r>
              <a:rPr lang="en-GB" dirty="0" err="1"/>
              <a:t>analyze</a:t>
            </a:r>
            <a:r>
              <a:rPr lang="en-GB" dirty="0"/>
              <a:t> it effectively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BE906-F7D3-A145-8957-95EB55A6DF6C}" type="slidenum">
              <a:rPr lang="en-NG" smtClean="0"/>
              <a:t>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64016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“The program allows users to load their own dataset and explore patterns interactively.”</a:t>
            </a:r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BE906-F7D3-A145-8957-95EB55A6DF6C}" type="slidenum">
              <a:rPr lang="en-NG" smtClean="0"/>
              <a:t>3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57742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“The system is straightforward — users load data, select an option, and the program generates insights.”</a:t>
            </a:r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BE906-F7D3-A145-8957-95EB55A6DF6C}" type="slidenum">
              <a:rPr lang="en-NG" smtClean="0"/>
              <a:t>4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44035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90C07-981A-A9B9-4F69-86F3A1C2A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3A1D5-74C2-57EC-2EAA-DEFDB0956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97CF3-3EA0-0E29-6A82-905C2C2FE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 used synthetic data to simulate real-world conditions while avoiding privacy concerns</a:t>
            </a:r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E56D5-CC74-1945-456E-D970E2033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BE906-F7D3-A145-8957-95EB55A6DF6C}" type="slidenum">
              <a:rPr lang="en-NG" smtClean="0"/>
              <a:t>5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37358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60645-80C7-489F-EA2F-4C5E8DAF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3DF98-33C0-92C8-FD40-488FF4BA3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22BAC-20DF-D4AC-182A-4C183FA32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program outputs both numerical results and visual summaries using text-based charts.</a:t>
            </a:r>
          </a:p>
          <a:p>
            <a:r>
              <a:rPr lang="en-GB" dirty="0"/>
              <a:t>I intentionally avoided external libraries to ensure the program runs reliably on any machine.</a:t>
            </a:r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40181-D9BB-EE36-DE79-4C092654D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BE906-F7D3-A145-8957-95EB55A6DF6C}" type="slidenum">
              <a:rPr lang="en-NG" smtClean="0"/>
              <a:t>6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49632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5719D-6877-9458-9A30-C27AF07F1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83E72-FF89-E48F-20C3-C76CF0F51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6A2C1-E40D-B0F3-9253-617AAE55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project shows how simple programming can support operational improvements in healthcare.</a:t>
            </a:r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BAE39-DF5A-F83E-A6C5-ED393A5E4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BE906-F7D3-A145-8957-95EB55A6DF6C}" type="slidenum">
              <a:rPr lang="en-NG" smtClean="0"/>
              <a:t>7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70839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I’ll now demonstrate how the program works.</a:t>
            </a:r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BE906-F7D3-A145-8957-95EB55A6DF6C}" type="slidenum">
              <a:rPr lang="en-NG" smtClean="0"/>
              <a:t>8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97363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23C9B-3FFA-BFD0-A902-701CEC592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994800-F9E4-07B4-EA2B-4D4285AAF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88145-353B-3F19-17AE-7BE26AF92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summary, this is a simple but effective tool for </a:t>
            </a:r>
            <a:r>
              <a:rPr lang="en-GB" dirty="0" err="1"/>
              <a:t>analyzing</a:t>
            </a:r>
            <a:r>
              <a:rPr lang="en-GB" dirty="0"/>
              <a:t> appointment </a:t>
            </a:r>
            <a:r>
              <a:rPr lang="en-GB" dirty="0" err="1"/>
              <a:t>behavior</a:t>
            </a:r>
            <a:r>
              <a:rPr lang="en-GB" dirty="0"/>
              <a:t>.</a:t>
            </a:r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8E4FB-3CE9-C8CD-798E-9CCCF8CCA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BE906-F7D3-A145-8957-95EB55A6DF6C}" type="slidenum">
              <a:rPr lang="en-NG" smtClean="0"/>
              <a:t>9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75696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4/30/26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96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37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37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95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1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48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3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1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95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14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31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CA2C65D-0168-1245-86C8-62A8A6F7B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87F931-7F1A-5220-8EC7-BB5695349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53945" y="1625608"/>
            <a:ext cx="5904705" cy="216499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NG" sz="4400" b="1" dirty="0"/>
              <a:t>Healthcare Appointment No-Show Analysis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CA7B3-78B9-3FF6-A0CC-F20F07822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3945" y="4372854"/>
            <a:ext cx="5064388" cy="882904"/>
          </a:xfrm>
        </p:spPr>
        <p:txBody>
          <a:bodyPr>
            <a:normAutofit fontScale="70000" lnSpcReduction="20000"/>
          </a:bodyPr>
          <a:lstStyle/>
          <a:p>
            <a:r>
              <a:rPr lang="en-NG" dirty="0"/>
              <a:t>Presentation and Demo to the Board of Directors</a:t>
            </a:r>
          </a:p>
          <a:p>
            <a:r>
              <a:rPr lang="en-NG" b="1" dirty="0"/>
              <a:t>Bidemi Adeoye</a:t>
            </a:r>
          </a:p>
        </p:txBody>
      </p:sp>
      <p:pic>
        <p:nvPicPr>
          <p:cNvPr id="15" name="Picture 14" descr="A group of pink and white circles&#10;&#10;AI-generated content may be incorrect.">
            <a:extLst>
              <a:ext uri="{FF2B5EF4-FFF2-40B4-BE49-F238E27FC236}">
                <a16:creationId xmlns:a16="http://schemas.microsoft.com/office/drawing/2014/main" id="{50D8EA1B-DB74-E61D-BA56-3981CA9685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68" r="20462" b="-1"/>
          <a:stretch>
            <a:fillRect/>
          </a:stretch>
        </p:blipFill>
        <p:spPr>
          <a:xfrm>
            <a:off x="20" y="10"/>
            <a:ext cx="6038037" cy="6857990"/>
          </a:xfrm>
          <a:prstGeom prst="rect">
            <a:avLst/>
          </a:prstGeom>
        </p:spPr>
      </p:pic>
      <p:sp>
        <p:nvSpPr>
          <p:cNvPr id="16" name="Cross 15">
            <a:extLst>
              <a:ext uri="{FF2B5EF4-FFF2-40B4-BE49-F238E27FC236}">
                <a16:creationId xmlns:a16="http://schemas.microsoft.com/office/drawing/2014/main" id="{12E8ED90-6D42-AE40-963A-3924EE207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0625" y="562356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5E9273-3717-C94C-9BFF-75E87E47C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0D1B854-6216-A90B-0998-C368CB2C7DFE}"/>
              </a:ext>
            </a:extLst>
          </p:cNvPr>
          <p:cNvSpPr txBox="1">
            <a:spLocks/>
          </p:cNvSpPr>
          <p:nvPr/>
        </p:nvSpPr>
        <p:spPr>
          <a:xfrm>
            <a:off x="7402931" y="5961347"/>
            <a:ext cx="4655719" cy="473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None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NG" dirty="0"/>
              <a:t>05/08/2026</a:t>
            </a:r>
          </a:p>
        </p:txBody>
      </p:sp>
    </p:spTree>
    <p:extLst>
      <p:ext uri="{BB962C8B-B14F-4D97-AF65-F5344CB8AC3E}">
        <p14:creationId xmlns:p14="http://schemas.microsoft.com/office/powerpoint/2010/main" val="253268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776A-9DDB-D8CD-B424-521009B8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8C1D2-F276-C105-0413-9E6E4A56E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584" y="4569079"/>
            <a:ext cx="5309870" cy="157407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NG" dirty="0"/>
              <a:t>Missed healthcare appointments, also known as no-shows, are a persistent and costly problem for clinics and hospitals</a:t>
            </a:r>
          </a:p>
        </p:txBody>
      </p:sp>
      <p:pic>
        <p:nvPicPr>
          <p:cNvPr id="8" name="Graphic 7" descr="Daily calendar with solid fill">
            <a:extLst>
              <a:ext uri="{FF2B5EF4-FFF2-40B4-BE49-F238E27FC236}">
                <a16:creationId xmlns:a16="http://schemas.microsoft.com/office/drawing/2014/main" id="{80665CA4-46D9-E253-DFAD-D62EEAA0E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30829" y="2451360"/>
            <a:ext cx="1726275" cy="172627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C413FD-B343-1A32-22FC-67933513745C}"/>
              </a:ext>
            </a:extLst>
          </p:cNvPr>
          <p:cNvSpPr txBox="1">
            <a:spLocks/>
          </p:cNvSpPr>
          <p:nvPr/>
        </p:nvSpPr>
        <p:spPr>
          <a:xfrm>
            <a:off x="6303917" y="4569079"/>
            <a:ext cx="5309870" cy="157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/>
              <a:t>As a result, decision-makers often know </a:t>
            </a:r>
            <a:r>
              <a:rPr lang="en-GB" b="1" dirty="0"/>
              <a:t>that</a:t>
            </a:r>
            <a:r>
              <a:rPr lang="en-GB" dirty="0"/>
              <a:t> no-shows are happening, but not </a:t>
            </a:r>
            <a:r>
              <a:rPr lang="en-GB" b="1" dirty="0"/>
              <a:t>why</a:t>
            </a:r>
            <a:r>
              <a:rPr lang="en-GB" dirty="0"/>
              <a:t>, </a:t>
            </a:r>
            <a:r>
              <a:rPr lang="en-GB" b="1" dirty="0"/>
              <a:t>when</a:t>
            </a:r>
            <a:r>
              <a:rPr lang="en-GB" dirty="0"/>
              <a:t>, or </a:t>
            </a:r>
            <a:r>
              <a:rPr lang="en-GB" b="1" dirty="0"/>
              <a:t>where</a:t>
            </a:r>
            <a:r>
              <a:rPr lang="en-GB" dirty="0"/>
              <a:t> they are most likely to occur</a:t>
            </a:r>
            <a:endParaRPr lang="en-NG" dirty="0"/>
          </a:p>
        </p:txBody>
      </p:sp>
      <p:pic>
        <p:nvPicPr>
          <p:cNvPr id="10" name="Graphic 9" descr="Fork In Road with solid fill">
            <a:extLst>
              <a:ext uri="{FF2B5EF4-FFF2-40B4-BE49-F238E27FC236}">
                <a16:creationId xmlns:a16="http://schemas.microsoft.com/office/drawing/2014/main" id="{10075F49-B10D-7C08-5B2B-5F99BE9DD8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33586" y="2651271"/>
            <a:ext cx="1327585" cy="142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2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538CF-7A24-61E2-2862-2F542D5E0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DCB7C-1A82-FAA0-40F7-7CB222046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444156"/>
            <a:ext cx="5417242" cy="14465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Menu-driven Python program that accepts CSV input and perform analysis on the dataset like “Day of week”, “Time of day”, and “age group”.</a:t>
            </a:r>
            <a:endParaRPr lang="en-NG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E97EC7-45FE-2E4B-253B-3CE6629F8551}"/>
              </a:ext>
            </a:extLst>
          </p:cNvPr>
          <p:cNvSpPr txBox="1">
            <a:spLocks/>
          </p:cNvSpPr>
          <p:nvPr/>
        </p:nvSpPr>
        <p:spPr>
          <a:xfrm>
            <a:off x="434917" y="4613346"/>
            <a:ext cx="5417243" cy="1837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Char char="–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The goal is not to predict </a:t>
            </a:r>
            <a:r>
              <a:rPr lang="en-GB" dirty="0" err="1"/>
              <a:t>behavior</a:t>
            </a:r>
            <a:r>
              <a:rPr lang="en-GB" dirty="0"/>
              <a:t>, but to </a:t>
            </a:r>
            <a:r>
              <a:rPr lang="en-GB" b="1" dirty="0"/>
              <a:t>turn existing data into actionable insights</a:t>
            </a:r>
            <a:r>
              <a:rPr lang="en-GB" dirty="0"/>
              <a:t> using fundamental Python programming techniques</a:t>
            </a:r>
          </a:p>
        </p:txBody>
      </p:sp>
      <p:pic>
        <p:nvPicPr>
          <p:cNvPr id="6" name="Graphic 5" descr="Bar chart outline">
            <a:extLst>
              <a:ext uri="{FF2B5EF4-FFF2-40B4-BE49-F238E27FC236}">
                <a16:creationId xmlns:a16="http://schemas.microsoft.com/office/drawing/2014/main" id="{FF7E3BE4-0831-FABC-1E80-732990AF1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4368" y="4765203"/>
            <a:ext cx="1776152" cy="1776152"/>
          </a:xfrm>
          <a:prstGeom prst="rect">
            <a:avLst/>
          </a:prstGeom>
        </p:spPr>
      </p:pic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2F33EB17-8876-5253-1983-C406D06795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5242" y="2309939"/>
            <a:ext cx="1654405" cy="16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4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D227D51-204B-ED48-AF9A-0BE9633FE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57A23F45-CDAE-8A40-8DE7-92A0BBC11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546383-CCC4-544B-B0D8-DE78DE39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CA2C65D-0168-1245-86C8-62A8A6F7B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DC3E9-CC6D-CC8B-2F0E-D1CE1EF3D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69" y="2074234"/>
            <a:ext cx="2976767" cy="190315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 Flow</a:t>
            </a:r>
          </a:p>
        </p:txBody>
      </p:sp>
      <p:sp>
        <p:nvSpPr>
          <p:cNvPr id="39" name="Cross 38">
            <a:extLst>
              <a:ext uri="{FF2B5EF4-FFF2-40B4-BE49-F238E27FC236}">
                <a16:creationId xmlns:a16="http://schemas.microsoft.com/office/drawing/2014/main" id="{56EC6756-249A-354D-B2C0-DA82BEEEC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8518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B14128-2D03-F14B-8681-9410A28F3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3666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083237-E450-A2A2-F775-6E406EC49A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2124" y="0"/>
            <a:ext cx="5902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297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75CB5-185F-28D8-88E1-A7726E9F9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D2EB-CCA6-4F8E-B54D-46105C60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85B23-19C1-8108-4DF9-2B5EB2E48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444155"/>
            <a:ext cx="5417242" cy="27661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Synthetic dataset (~500 records)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Fields: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Appointment Time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Day of Week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Attendance (Yes/No)</a:t>
            </a:r>
            <a:endParaRPr lang="en-NG" sz="2400" dirty="0"/>
          </a:p>
        </p:txBody>
      </p:sp>
      <p:pic>
        <p:nvPicPr>
          <p:cNvPr id="6" name="Graphic 5" descr="Bar chart outline">
            <a:extLst>
              <a:ext uri="{FF2B5EF4-FFF2-40B4-BE49-F238E27FC236}">
                <a16:creationId xmlns:a16="http://schemas.microsoft.com/office/drawing/2014/main" id="{8A1AA7ED-9F74-D079-DBD7-314129C76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4368" y="4765203"/>
            <a:ext cx="1776152" cy="1776152"/>
          </a:xfrm>
          <a:prstGeom prst="rect">
            <a:avLst/>
          </a:prstGeom>
        </p:spPr>
      </p:pic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408DF91E-A74D-6883-8FEE-5C9692CE26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5242" y="2309939"/>
            <a:ext cx="1654405" cy="16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3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536AA-2918-650C-1540-A402505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B472-0185-0FFE-73EF-9F6C9A6E6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Example Output</a:t>
            </a:r>
            <a:br>
              <a:rPr lang="en-NG" dirty="0"/>
            </a:br>
            <a:r>
              <a:rPr lang="en-NG" dirty="0"/>
              <a:t>Design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1C149-E4AA-4F8D-7FC7-5EC7C545C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909981"/>
            <a:ext cx="5417242" cy="27661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No-show rate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Text-based chart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external libraries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Works on any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Handles messy/missing data</a:t>
            </a:r>
          </a:p>
        </p:txBody>
      </p:sp>
      <p:pic>
        <p:nvPicPr>
          <p:cNvPr id="6" name="Graphic 5" descr="Bar chart outline">
            <a:extLst>
              <a:ext uri="{FF2B5EF4-FFF2-40B4-BE49-F238E27FC236}">
                <a16:creationId xmlns:a16="http://schemas.microsoft.com/office/drawing/2014/main" id="{D6D9C7F1-4134-0B00-2EBF-7CA6CBA01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4368" y="4765203"/>
            <a:ext cx="1776152" cy="1776152"/>
          </a:xfrm>
          <a:prstGeom prst="rect">
            <a:avLst/>
          </a:prstGeom>
        </p:spPr>
      </p:pic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211F1D2E-9FAF-E9F1-C1E4-090D4260A5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5242" y="2309939"/>
            <a:ext cx="1654405" cy="16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14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FBDBB-C402-2AB8-8DCB-1177B800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5AB20-F776-A049-79B0-A1BC4CBC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93964-9A08-2F8D-7AFA-DFB77DCBF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909981"/>
            <a:ext cx="5417242" cy="27661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Identifies patterns in missed appointments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Helps improve scheduling decisions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Demonstrates real-world Python application</a:t>
            </a:r>
          </a:p>
        </p:txBody>
      </p:sp>
      <p:pic>
        <p:nvPicPr>
          <p:cNvPr id="6" name="Graphic 5" descr="Bar chart outline">
            <a:extLst>
              <a:ext uri="{FF2B5EF4-FFF2-40B4-BE49-F238E27FC236}">
                <a16:creationId xmlns:a16="http://schemas.microsoft.com/office/drawing/2014/main" id="{413DA754-F78A-C7BD-CF99-A316BD244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4368" y="4765203"/>
            <a:ext cx="1776152" cy="1776152"/>
          </a:xfrm>
          <a:prstGeom prst="rect">
            <a:avLst/>
          </a:prstGeom>
        </p:spPr>
      </p:pic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2001A1F3-0C54-065D-D870-989A95037B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5242" y="2309939"/>
            <a:ext cx="1654405" cy="16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0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BCF4F-2714-AF75-1DA3-815171856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9B65726-C342-1858-B66F-6BC21BF4D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448C2-F290-07F8-6DC1-75B7D3682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8057" y="3311044"/>
            <a:ext cx="5904705" cy="1332683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NG" sz="4400" b="1" dirty="0"/>
              <a:t>Live Program Demonstration</a:t>
            </a:r>
          </a:p>
        </p:txBody>
      </p:sp>
      <p:pic>
        <p:nvPicPr>
          <p:cNvPr id="15" name="Picture 14" descr="A group of pink and white circles&#10;&#10;AI-generated content may be incorrect.">
            <a:extLst>
              <a:ext uri="{FF2B5EF4-FFF2-40B4-BE49-F238E27FC236}">
                <a16:creationId xmlns:a16="http://schemas.microsoft.com/office/drawing/2014/main" id="{88ECE890-FB7D-23D3-5E04-095CCD288D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68" r="20462" b="-1"/>
          <a:stretch>
            <a:fillRect/>
          </a:stretch>
        </p:blipFill>
        <p:spPr>
          <a:xfrm>
            <a:off x="20" y="10"/>
            <a:ext cx="6038037" cy="6857990"/>
          </a:xfrm>
          <a:prstGeom prst="rect">
            <a:avLst/>
          </a:prstGeom>
        </p:spPr>
      </p:pic>
      <p:sp>
        <p:nvSpPr>
          <p:cNvPr id="16" name="Cross 15">
            <a:extLst>
              <a:ext uri="{FF2B5EF4-FFF2-40B4-BE49-F238E27FC236}">
                <a16:creationId xmlns:a16="http://schemas.microsoft.com/office/drawing/2014/main" id="{88E42396-9414-0A61-9694-ED5135E78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0625" y="562356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752DB0-A4F9-136D-B4B4-FDEB3B95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59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6D5B1-62B6-D8C5-0A7A-C9E3309DB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44DDB-B0D4-9517-E73F-7E480A625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78828-3D46-BF71-ED3D-A01D160C8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909981"/>
            <a:ext cx="5417242" cy="27661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Simple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Scalable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Practical</a:t>
            </a:r>
          </a:p>
        </p:txBody>
      </p:sp>
      <p:pic>
        <p:nvPicPr>
          <p:cNvPr id="6" name="Graphic 5" descr="Bar chart outline">
            <a:extLst>
              <a:ext uri="{FF2B5EF4-FFF2-40B4-BE49-F238E27FC236}">
                <a16:creationId xmlns:a16="http://schemas.microsoft.com/office/drawing/2014/main" id="{9EA6E636-235D-44FD-0D3C-FB49F405A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4368" y="4765203"/>
            <a:ext cx="1776152" cy="1776152"/>
          </a:xfrm>
          <a:prstGeom prst="rect">
            <a:avLst/>
          </a:prstGeom>
        </p:spPr>
      </p:pic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D0741231-7462-8AE9-5CBE-4FF5590A87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5242" y="2309939"/>
            <a:ext cx="1654405" cy="16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3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29598-81C1-BA25-4A6E-5F6098A16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B68DB74-9FC7-6C58-72FE-5C1457C76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27294D-E375-5FA6-A613-7CF054B8A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53945" y="1625608"/>
            <a:ext cx="5904705" cy="263778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NG" sz="4400" b="1" dirty="0"/>
              <a:t>Thanks for listening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86D6B-C79B-470E-4A96-C3DB8B0F0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3945" y="4655481"/>
            <a:ext cx="4655719" cy="882904"/>
          </a:xfrm>
        </p:spPr>
        <p:txBody>
          <a:bodyPr>
            <a:normAutofit fontScale="92500" lnSpcReduction="10000"/>
          </a:bodyPr>
          <a:lstStyle/>
          <a:p>
            <a:r>
              <a:rPr lang="en-NG" b="1" dirty="0"/>
              <a:t>Bidemi Adeoye</a:t>
            </a:r>
          </a:p>
          <a:p>
            <a:r>
              <a:rPr lang="en-NG" dirty="0"/>
              <a:t>oadeoye@students.kennesaw.edu</a:t>
            </a:r>
          </a:p>
        </p:txBody>
      </p:sp>
      <p:pic>
        <p:nvPicPr>
          <p:cNvPr id="15" name="Picture 14" descr="A group of pink and white circles&#10;&#10;AI-generated content may be incorrect.">
            <a:extLst>
              <a:ext uri="{FF2B5EF4-FFF2-40B4-BE49-F238E27FC236}">
                <a16:creationId xmlns:a16="http://schemas.microsoft.com/office/drawing/2014/main" id="{B7E11D2E-ECC2-C922-19B8-4BB50BE44E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68" r="20462" b="-1"/>
          <a:stretch>
            <a:fillRect/>
          </a:stretch>
        </p:blipFill>
        <p:spPr>
          <a:xfrm>
            <a:off x="20" y="10"/>
            <a:ext cx="6038037" cy="6857990"/>
          </a:xfrm>
          <a:prstGeom prst="rect">
            <a:avLst/>
          </a:prstGeom>
        </p:spPr>
      </p:pic>
      <p:sp>
        <p:nvSpPr>
          <p:cNvPr id="16" name="Cross 15">
            <a:extLst>
              <a:ext uri="{FF2B5EF4-FFF2-40B4-BE49-F238E27FC236}">
                <a16:creationId xmlns:a16="http://schemas.microsoft.com/office/drawing/2014/main" id="{219DEFB4-BD5F-8B0A-DAB8-65C736FD8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0625" y="562356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24C7BF-6590-AC83-395A-D753B5FA9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23981FF-8CA2-BBDB-39C0-1E4245F3993F}"/>
              </a:ext>
            </a:extLst>
          </p:cNvPr>
          <p:cNvSpPr txBox="1">
            <a:spLocks/>
          </p:cNvSpPr>
          <p:nvPr/>
        </p:nvSpPr>
        <p:spPr>
          <a:xfrm>
            <a:off x="7402931" y="5961347"/>
            <a:ext cx="4655719" cy="473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None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NG" dirty="0"/>
              <a:t>02/27/2026</a:t>
            </a:r>
          </a:p>
        </p:txBody>
      </p:sp>
    </p:spTree>
    <p:extLst>
      <p:ext uri="{BB962C8B-B14F-4D97-AF65-F5344CB8AC3E}">
        <p14:creationId xmlns:p14="http://schemas.microsoft.com/office/powerpoint/2010/main" val="3334046266"/>
      </p:ext>
    </p:extLst>
  </p:cSld>
  <p:clrMapOvr>
    <a:masterClrMapping/>
  </p:clrMapOvr>
</p:sld>
</file>

<file path=ppt/theme/theme1.xml><?xml version="1.0" encoding="utf-8"?>
<a:theme xmlns:a="http://schemas.openxmlformats.org/drawingml/2006/main" name="MadridVTI">
  <a:themeElements>
    <a:clrScheme name="Madrid R3">
      <a:dk1>
        <a:srgbClr val="000000"/>
      </a:dk1>
      <a:lt1>
        <a:srgbClr val="FFFFFF"/>
      </a:lt1>
      <a:dk2>
        <a:srgbClr val="3A3C45"/>
      </a:dk2>
      <a:lt2>
        <a:srgbClr val="E9EFF1"/>
      </a:lt2>
      <a:accent1>
        <a:srgbClr val="E24400"/>
      </a:accent1>
      <a:accent2>
        <a:srgbClr val="F38E00"/>
      </a:accent2>
      <a:accent3>
        <a:srgbClr val="89B336"/>
      </a:accent3>
      <a:accent4>
        <a:srgbClr val="30B9B9"/>
      </a:accent4>
      <a:accent5>
        <a:srgbClr val="748CF4"/>
      </a:accent5>
      <a:accent6>
        <a:srgbClr val="A673F4"/>
      </a:accent6>
      <a:hlink>
        <a:srgbClr val="008EE6"/>
      </a:hlink>
      <a:folHlink>
        <a:srgbClr val="C1A187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362</Words>
  <Application>Microsoft Macintosh PowerPoint</Application>
  <PresentationFormat>Widescreen</PresentationFormat>
  <Paragraphs>58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Seaford Display</vt:lpstr>
      <vt:lpstr>System Font Regular</vt:lpstr>
      <vt:lpstr>Tenorite</vt:lpstr>
      <vt:lpstr>MadridVTI</vt:lpstr>
      <vt:lpstr>Healthcare Appointment No-Show Analysis Program</vt:lpstr>
      <vt:lpstr>The Problem</vt:lpstr>
      <vt:lpstr>The Solution</vt:lpstr>
      <vt:lpstr>Program Flow</vt:lpstr>
      <vt:lpstr>Dataset</vt:lpstr>
      <vt:lpstr>Example Output Design Decisions</vt:lpstr>
      <vt:lpstr>Value</vt:lpstr>
      <vt:lpstr>Live Program Demonstration</vt:lpstr>
      <vt:lpstr>Conclusion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bidemi adeoye</dc:creator>
  <cp:lastModifiedBy>Microsoft Office User</cp:lastModifiedBy>
  <cp:revision>5</cp:revision>
  <dcterms:created xsi:type="dcterms:W3CDTF">2026-02-27T03:51:20Z</dcterms:created>
  <dcterms:modified xsi:type="dcterms:W3CDTF">2026-04-30T06:00:17Z</dcterms:modified>
</cp:coreProperties>
</file>